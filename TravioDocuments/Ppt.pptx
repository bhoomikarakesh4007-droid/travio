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230" r:id="rId1"/>
  </p:sldMasterIdLst>
  <p:notesMasterIdLst>
    <p:notesMasterId r:id="rId15"/>
  </p:notesMasterIdLst>
  <p:sldIdLst>
    <p:sldId id="483" r:id="rId2"/>
    <p:sldId id="484" r:id="rId3"/>
    <p:sldId id="470" r:id="rId4"/>
    <p:sldId id="488" r:id="rId5"/>
    <p:sldId id="478" r:id="rId6"/>
    <p:sldId id="482" r:id="rId7"/>
    <p:sldId id="490" r:id="rId8"/>
    <p:sldId id="486" r:id="rId9"/>
    <p:sldId id="489" r:id="rId10"/>
    <p:sldId id="485" r:id="rId11"/>
    <p:sldId id="487" r:id="rId12"/>
    <p:sldId id="473" r:id="rId13"/>
    <p:sldId id="468" r:id="rId14"/>
  </p:sldIdLst>
  <p:sldSz cx="12192000" cy="6858000"/>
  <p:notesSz cx="6954838" cy="93091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1180"/>
    <a:srgbClr val="FF33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0EA34E-607E-48CC-B13E-2DD79C2049EF}" v="138" dt="2026-08-07T16:50:45.4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47" autoAdjust="0"/>
    <p:restoredTop sz="94434" autoAdjust="0"/>
  </p:normalViewPr>
  <p:slideViewPr>
    <p:cSldViewPr snapToGrid="0">
      <p:cViewPr varScale="1">
        <p:scale>
          <a:sx n="64" d="100"/>
          <a:sy n="64" d="100"/>
        </p:scale>
        <p:origin x="56" y="3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93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91A9256-F9C8-48F3-9246-288820D1979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8C6F2-4266-4213-8BF4-8EA0CDC970F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40175" y="0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5AA20220-E8D3-4BE8-9E9D-D5B982467646}" type="datetimeFigureOut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B13A30F-9520-44F4-81B2-1BCC447DE5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63638"/>
            <a:ext cx="5583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266252B-3FF1-4DA9-A03B-C61619A410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325" y="4479925"/>
            <a:ext cx="5564188" cy="366553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DEBF4-55D6-4B92-B2C6-9B4374F6BE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42375"/>
            <a:ext cx="3013075" cy="466725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A1201-67BC-4B63-9687-0E19225243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40175" y="8842375"/>
            <a:ext cx="3013075" cy="466725"/>
          </a:xfrm>
          <a:prstGeom prst="rect">
            <a:avLst/>
          </a:prstGeom>
        </p:spPr>
        <p:txBody>
          <a:bodyPr vert="horz" wrap="square" lIns="92930" tIns="46465" rIns="92930" bIns="46465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36A1ABE2-8A9C-4371-A477-2D85B6949A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719459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985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57341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56918-D4B3-422F-BFF9-D10393CB1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984284-C742-4CDE-BCD1-55F1EACCE4BD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2B6A4-3E11-4AFE-97A2-755EDA1DD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D3FD1-471F-422B-AFB8-CC8FCE5DC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AC8F4A-8BCF-4389-A68F-ABDBB8A3846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18394844"/>
      </p:ext>
    </p:extLst>
  </p:cSld>
  <p:clrMapOvr>
    <a:masterClrMapping/>
  </p:clrMapOvr>
  <p:transition spd="slow">
    <p:blinds dir="vert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B27E7-0E5F-45FD-B9BC-82F6ACE50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8400D6F-81A6-4CA0-8B3C-34372C62B661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0F7A6-907E-418D-ABF6-CE0D106D2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6D880-0EA6-4FCD-A723-C3932356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5EC703-C051-410C-8BA1-62752E291E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59887381"/>
      </p:ext>
    </p:extLst>
  </p:cSld>
  <p:clrMapOvr>
    <a:masterClrMapping/>
  </p:clrMapOvr>
  <p:transition spd="slow">
    <p:blinds dir="vert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DDAA96-8682-4C88-9622-87E036243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63234D9-D072-4920-821D-BED01FCB7247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29450-6172-4A34-B37F-64FAD195B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A622E-84FA-417F-BD5A-BE81A4899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A17B78-0E85-43B3-B804-1DD2F629C1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03603393"/>
      </p:ext>
    </p:extLst>
  </p:cSld>
  <p:clrMapOvr>
    <a:masterClrMapping/>
  </p:clrMapOvr>
  <p:transition spd="slow">
    <p:blinds dir="vert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0375BCC-EEE9-412B-A532-7314FE84B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A9FD15-50EB-4E55-A7AC-5D569B5B3C80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E5CB5DD-B599-4B4E-BFCE-CB9E35FB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CE3315-9445-4BB5-89D3-235E587A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0EC4D6-2A5D-45C1-86E3-8BE19A62D20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91645173"/>
      </p:ext>
    </p:extLst>
  </p:cSld>
  <p:clrMapOvr>
    <a:masterClrMapping/>
  </p:clrMapOvr>
  <p:transition spd="slow">
    <p:blinds dir="vert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30AD5EF-C609-4119-B375-3771413B4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50B61E-D197-4188-943F-30B5936FC2F9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A9EBF0-B7B0-4583-92AB-A3431DE62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83BC57B-A7E4-4277-9D46-579496497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7F6C894-F542-45DE-85A4-2725CE92499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0619855"/>
      </p:ext>
    </p:extLst>
  </p:cSld>
  <p:clrMapOvr>
    <a:masterClrMapping/>
  </p:clrMapOvr>
  <p:transition spd="slow">
    <p:blinds dir="vert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1D81C82-41E3-4C7D-816C-58F99A17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D41E7F-6671-4D2D-B6AD-20E102447CE3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21C23C57-193A-4FFE-AF84-5DDAD5045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00AA421-04F3-46DC-9A65-181848BF7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89318FD-4EEC-4C57-A972-0B24B85155E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4775401"/>
      </p:ext>
    </p:extLst>
  </p:cSld>
  <p:clrMapOvr>
    <a:masterClrMapping/>
  </p:clrMapOvr>
  <p:transition spd="slow">
    <p:blinds dir="vert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3218A1C0-5E86-44FA-96CE-D0C3A0911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AE11748-68B0-424D-A128-8EE4A2F1567E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DC30598B-A85E-40F2-B0F9-CC04D8E3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20ADC7C-B221-49C5-9757-EBEBB0F92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F195F4C-44D2-4F45-A0AC-21646A9D27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79266658"/>
      </p:ext>
    </p:extLst>
  </p:cSld>
  <p:clrMapOvr>
    <a:masterClrMapping/>
  </p:clrMapOvr>
  <p:transition spd="slow">
    <p:blinds dir="vert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79DD4CF-015F-4F62-A63C-9D088FAC4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94E8B7-7DCF-4AE2-ACBE-26DA6EBB7347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9F56518C-25E4-4791-80CF-9603927DE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46B593C-043B-40F1-98DA-B1906E58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D429D7-E526-4101-969E-B40B8D8E48C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78220043"/>
      </p:ext>
    </p:extLst>
  </p:cSld>
  <p:clrMapOvr>
    <a:masterClrMapping/>
  </p:clrMapOvr>
  <p:transition spd="slow">
    <p:blinds dir="vert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B5A9D87-E05A-4D16-A703-1E97A8BA2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8AEAC7-C2C3-44AF-AB2E-36A1774D5378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0E92F1C-94F6-478A-96CC-20CEB3BF8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1659F05-47D4-46F4-A7AC-A02AE18D3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6FD7F1-16F9-4E12-83AD-C4245146BA5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99370667"/>
      </p:ext>
    </p:extLst>
  </p:cSld>
  <p:clrMapOvr>
    <a:masterClrMapping/>
  </p:clrMapOvr>
  <p:transition spd="slow">
    <p:blinds dir="vert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AAE25-87DE-4998-B6CE-F4797898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702336F-006F-49C3-8FF0-2416E12056BA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9861B-6D3E-4215-A3D0-377EC12DA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5A02C-FFC9-401E-8BCD-D06F65B1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CA2AFE-CAB8-4467-80DC-C3A4FC1E27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6143411"/>
      </p:ext>
    </p:extLst>
  </p:cSld>
  <p:clrMapOvr>
    <a:masterClrMapping/>
  </p:clrMapOvr>
  <p:transition spd="slow">
    <p:blinds dir="vert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4B4638-3310-4031-B55D-BE295B1A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683BFA-96BB-4329-BF2F-32F59AFA4E79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7728E-C01A-4686-AD71-F7B61E820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71C28-1E00-4F0A-8B9D-A0E460685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DD8426-6957-4B5B-B927-2BE994D1B7C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9399607"/>
      </p:ext>
    </p:extLst>
  </p:cSld>
  <p:clrMapOvr>
    <a:masterClrMapping/>
  </p:clrMapOvr>
  <p:transition spd="slow">
    <p:blinds dir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D9A3E1B4-65C6-415A-9681-D05B402B0E8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0C566853-DAEB-4CB7-818F-723C37230FE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4BD739-9829-4F69-BC53-75013DDD18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6687D5-4D00-474F-82B8-FCFBD98170F5}" type="datetime1">
              <a:rPr lang="en-US"/>
              <a:pPr>
                <a:defRPr/>
              </a:pPr>
              <a:t>07-Aug-26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0A4C-9308-45AA-A1AA-7B038DC01F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AE0DB-89DF-4A35-9269-9E85DEA2E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ADBF7CE3-29D9-4203-A481-45960E76618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7">
            <a:extLst>
              <a:ext uri="{FF2B5EF4-FFF2-40B4-BE49-F238E27FC236}">
                <a16:creationId xmlns:a16="http://schemas.microsoft.com/office/drawing/2014/main" id="{102663E2-6C69-49E4-9FEB-A0ED3DD955F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231" r:id="rId1"/>
    <p:sldLayoutId id="2147484232" r:id="rId2"/>
    <p:sldLayoutId id="2147484233" r:id="rId3"/>
    <p:sldLayoutId id="2147484234" r:id="rId4"/>
    <p:sldLayoutId id="2147484235" r:id="rId5"/>
    <p:sldLayoutId id="2147484236" r:id="rId6"/>
    <p:sldLayoutId id="2147484237" r:id="rId7"/>
    <p:sldLayoutId id="2147484238" r:id="rId8"/>
    <p:sldLayoutId id="2147484239" r:id="rId9"/>
    <p:sldLayoutId id="2147484240" r:id="rId10"/>
    <p:sldLayoutId id="2147484241" r:id="rId11"/>
  </p:sldLayoutIdLst>
  <p:transition spd="slow">
    <p:blinds dir="vert"/>
  </p:transition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/>
        </p:nvSpPr>
        <p:spPr>
          <a:xfrm>
            <a:off x="6525369" y="2109718"/>
            <a:ext cx="5514300" cy="202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Under the </a:t>
            </a:r>
            <a:r>
              <a:rPr lang="en-GB" sz="2000" b="1" i="0" u="none" strike="noStrike" cap="none" dirty="0">
                <a:solidFill>
                  <a:schemeClr val="accent2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Supervision</a:t>
            </a:r>
            <a:r>
              <a:rPr lang="en-GB" sz="20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of,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Dr./Mr./Ms./Prof.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Professor / Associate Professor / Assistant Professor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School of Computer Science and Engineering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340"/>
              </a:spcBef>
              <a:spcAft>
                <a:spcPts val="0"/>
              </a:spcAft>
              <a:buClr>
                <a:srgbClr val="17365D"/>
              </a:buClr>
              <a:buSzPts val="1700"/>
              <a:buFont typeface="Arial"/>
              <a:buNone/>
            </a:pPr>
            <a:r>
              <a:rPr lang="en-GB" sz="1700" b="1" i="0" u="none" strike="noStrike" cap="none" dirty="0">
                <a:solidFill>
                  <a:srgbClr val="17365D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Presidency University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Clr>
                <a:srgbClr val="17365D"/>
              </a:buClr>
              <a:buSzPts val="2000"/>
              <a:buFont typeface="Arial"/>
              <a:buNone/>
            </a:pPr>
            <a:endParaRPr sz="2000" b="1" i="0" u="none" strike="noStrike" cap="none" dirty="0">
              <a:solidFill>
                <a:srgbClr val="17365D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8" name="Google Shape;91;p13"/>
          <p:cNvSpPr txBox="1"/>
          <p:nvPr/>
        </p:nvSpPr>
        <p:spPr>
          <a:xfrm>
            <a:off x="86072" y="4088074"/>
            <a:ext cx="12009870" cy="15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B. Tech (CSE)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  <a:buFont typeface="Arial"/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HoD: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</a:t>
            </a: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Nagaraja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S R</a:t>
            </a:r>
          </a:p>
          <a:p>
            <a:pPr lv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ct val="100000"/>
            </a:pPr>
            <a:r>
              <a:rPr lang="en-US" sz="2000" b="1" i="0" u="none" strike="noStrike" cap="none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Program Internship Coordinator: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Ms.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Vidhya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 </a:t>
            </a:r>
            <a:r>
              <a:rPr lang="en-US" sz="2000" b="1" dirty="0" err="1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Rengasamy</a:t>
            </a:r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  <a:p>
            <a:pPr lvl="0">
              <a:buClr>
                <a:srgbClr val="17365D"/>
              </a:buClr>
              <a:buSzPct val="100000"/>
            </a:pPr>
            <a:r>
              <a:rPr lang="en-US" sz="20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Name of the School Internship Coordinators: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  <a:cs typeface="Verdana"/>
                <a:sym typeface="Verdana"/>
              </a:rPr>
              <a:t>Dr. Bhuvaneshwari Patil										</a:t>
            </a:r>
            <a:endParaRPr sz="2000" b="1" i="0" u="none" strike="noStrike" cap="none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  <a:cs typeface="Verdana"/>
              <a:sym typeface="Verdana"/>
            </a:endParaRP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38200" y="130629"/>
            <a:ext cx="10515600" cy="156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  <a:defRPr sz="2800" b="1" i="0" u="none" strike="noStrike" cap="none">
                <a:solidFill>
                  <a:srgbClr val="17365D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altLang="en-US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CSE7000 - INTERNSHIP</a:t>
            </a:r>
            <a:b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Presentation on</a:t>
            </a: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 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  <a:t>TITLE OF THE INTERNSHIP</a:t>
            </a:r>
            <a:b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Tahoma" pitchFamily="34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09073"/>
              </p:ext>
            </p:extLst>
          </p:nvPr>
        </p:nvGraphicFramePr>
        <p:xfrm>
          <a:off x="601909" y="1911875"/>
          <a:ext cx="4884491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70">
                  <a:extLst>
                    <a:ext uri="{9D8B030D-6E8A-4147-A177-3AD203B41FA5}">
                      <a16:colId xmlns:a16="http://schemas.microsoft.com/office/drawing/2014/main" val="2689928737"/>
                    </a:ext>
                  </a:extLst>
                </a:gridCol>
                <a:gridCol w="3513221">
                  <a:extLst>
                    <a:ext uri="{9D8B030D-6E8A-4147-A177-3AD203B41FA5}">
                      <a16:colId xmlns:a16="http://schemas.microsoft.com/office/drawing/2014/main" val="3965538731"/>
                    </a:ext>
                  </a:extLst>
                </a:gridCol>
              </a:tblGrid>
              <a:tr h="362263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Student Details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510531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Bhoomika 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540802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Roll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20241CSE0670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509489"/>
                  </a:ext>
                </a:extLst>
              </a:tr>
              <a:tr h="362263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Cambria" panose="02040503050406030204" pitchFamily="18" charset="0"/>
                          <a:ea typeface="Cambria" panose="02040503050406030204" pitchFamily="18" charset="0"/>
                          <a:cs typeface="Times New Roman" panose="02020603050405020304" pitchFamily="18" charset="0"/>
                        </a:rPr>
                        <a:t>5CSE09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268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0239800"/>
      </p:ext>
    </p:extLst>
  </p:cSld>
  <p:clrMapOvr>
    <a:masterClrMapping/>
  </p:clrMapOvr>
  <p:transition spd="slow">
    <p:blinds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>
            <a:spLocks noGrp="1"/>
          </p:cNvSpPr>
          <p:nvPr>
            <p:ph type="title"/>
          </p:nvPr>
        </p:nvSpPr>
        <p:spPr>
          <a:xfrm>
            <a:off x="812800" y="274638"/>
            <a:ext cx="106680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7365D"/>
              </a:buClr>
              <a:buSzPts val="2800"/>
              <a:buFont typeface="Verdana"/>
              <a:buNone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Content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7" name="Google Shape;97;p14"/>
          <p:cNvSpPr txBox="1">
            <a:spLocks noGrp="1"/>
          </p:cNvSpPr>
          <p:nvPr>
            <p:ph type="body" idx="1"/>
          </p:nvPr>
        </p:nvSpPr>
        <p:spPr>
          <a:xfrm>
            <a:off x="678759" y="762138"/>
            <a:ext cx="10668000" cy="4271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US" sz="20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</a:t>
            </a:r>
            <a:endParaRPr lang="en-IN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Results (Optional)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495300" indent="-342900" algn="just">
              <a:lnSpc>
                <a:spcPct val="15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en-IN" sz="2000" b="1" dirty="0">
                <a:solidFill>
                  <a:schemeClr val="accent1">
                    <a:lumMod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Conclusion</a:t>
            </a:r>
            <a:endParaRPr lang="en-IN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648573"/>
      </p:ext>
    </p:extLst>
  </p:cSld>
  <p:clrMapOvr>
    <a:masterClrMapping/>
  </p:clrMapOvr>
  <p:transition spd="slow">
    <p:blinds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357" y="1162877"/>
            <a:ext cx="11330608" cy="4681331"/>
          </a:xfrm>
        </p:spPr>
        <p:txBody>
          <a:bodyPr/>
          <a:lstStyle/>
          <a:p>
            <a:pPr lvl="0"/>
            <a:r>
              <a:rPr lang="en-US" b="1" dirty="0"/>
              <a:t>NVIDIA</a:t>
            </a:r>
            <a:r>
              <a:rPr lang="en-US" dirty="0"/>
              <a:t> is a global leader in AI and GPU computing. </a:t>
            </a:r>
          </a:p>
          <a:p>
            <a:pPr lvl="0"/>
            <a:r>
              <a:rPr lang="en-US" dirty="0"/>
              <a:t>Founded in </a:t>
            </a:r>
            <a:r>
              <a:rPr lang="en-US" b="1" dirty="0"/>
              <a:t>1993</a:t>
            </a:r>
            <a:r>
              <a:rPr lang="en-US" dirty="0"/>
              <a:t> in California, USA. </a:t>
            </a:r>
          </a:p>
          <a:p>
            <a:pPr lvl="0"/>
            <a:r>
              <a:rPr lang="en-US" dirty="0"/>
              <a:t>Develops high-performance GPUs for AI and data centers. </a:t>
            </a:r>
          </a:p>
          <a:p>
            <a:pPr lvl="0"/>
            <a:r>
              <a:rPr lang="en-US" dirty="0"/>
              <a:t>Creator of the </a:t>
            </a:r>
            <a:r>
              <a:rPr lang="en-US" b="1" dirty="0"/>
              <a:t>CUDA</a:t>
            </a:r>
            <a:r>
              <a:rPr lang="en-US" dirty="0"/>
              <a:t> parallel computing platform. </a:t>
            </a:r>
          </a:p>
          <a:p>
            <a:pPr lvl="0"/>
            <a:r>
              <a:rPr lang="en-US" dirty="0"/>
              <a:t>Powers innovations in Generative AI, robotics, and autonomous vehicles. </a:t>
            </a:r>
          </a:p>
          <a:p>
            <a:pPr lvl="0"/>
            <a:r>
              <a:rPr lang="en-US" dirty="0"/>
              <a:t>NVIDIA technologies are widely used in research and industries. </a:t>
            </a:r>
          </a:p>
          <a:p>
            <a:pPr lvl="0"/>
            <a:r>
              <a:rPr lang="en-US" dirty="0"/>
              <a:t>Focuses on advancing AI through cutting-edge hardware and software.</a:t>
            </a:r>
          </a:p>
          <a:p>
            <a:pPr lvl="0"/>
            <a:r>
              <a:rPr lang="en-US" dirty="0"/>
              <a:t>Provides AI software tools and developer platforms worldwide.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6428933"/>
      </p:ext>
    </p:extLst>
  </p:cSld>
  <p:clrMapOvr>
    <a:masterClrMapping/>
  </p:clrMapOvr>
  <p:transition spd="slow">
    <p:blinds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6C2F8-1DC7-FDAA-DAE2-60456ADCA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CA64B-3F9A-F46F-D666-373181704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79904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 or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D790E-92CC-6EFF-10E3-C340D95B1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053" y="1262269"/>
            <a:ext cx="11330608" cy="4681331"/>
          </a:xfrm>
        </p:spPr>
        <p:txBody>
          <a:bodyPr/>
          <a:lstStyle/>
          <a:p>
            <a:pPr lvl="0"/>
            <a:r>
              <a:rPr lang="en-US" dirty="0"/>
              <a:t>Presidency School of AI and Advanced Studies, Presidency University </a:t>
            </a:r>
          </a:p>
          <a:p>
            <a:pPr lvl="0"/>
            <a:r>
              <a:rPr lang="en-US" dirty="0"/>
              <a:t>Summer Internship Program — 2026 </a:t>
            </a:r>
          </a:p>
          <a:p>
            <a:pPr lvl="0"/>
            <a:r>
              <a:rPr lang="en-US" dirty="0"/>
              <a:t>Two-week intensive program in AI, Machine Learning and GPU accelerated computing </a:t>
            </a:r>
          </a:p>
          <a:p>
            <a:pPr lvl="0"/>
            <a:r>
              <a:rPr lang="en-US" dirty="0"/>
              <a:t>10 instructional days, 30 contact hours and 2 academic credits </a:t>
            </a:r>
          </a:p>
          <a:p>
            <a:pPr lvl="0"/>
            <a:r>
              <a:rPr lang="en-US" dirty="0"/>
              <a:t>Format: Lecture + Hands-on GPU Lab </a:t>
            </a:r>
          </a:p>
          <a:p>
            <a:pPr lvl="0"/>
            <a:r>
              <a:rPr lang="en-US" dirty="0"/>
              <a:t>Infrastructure: NVIDIA H200 Tensor Core GPU </a:t>
            </a:r>
          </a:p>
          <a:p>
            <a:pPr lvl="0"/>
            <a:r>
              <a:rPr lang="en-US" dirty="0"/>
              <a:t>Faculty, mentors and industry practitioners support the program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7B5D7-AF3D-E1E5-95BD-CDDD6908B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9977370"/>
      </p:ext>
    </p:extLst>
  </p:cSld>
  <p:clrMapOvr>
    <a:masterClrMapping/>
  </p:clrMapOvr>
  <p:transition spd="slow">
    <p:blinds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56861" y="1365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domain or the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965" y="417443"/>
            <a:ext cx="11519452" cy="4919869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lvl="0"/>
            <a:r>
              <a:rPr lang="en-US" b="1" dirty="0"/>
              <a:t>Project Domain:</a:t>
            </a:r>
            <a:r>
              <a:rPr lang="en-US" dirty="0"/>
              <a:t> AI-Powered Smart Travel Planner. </a:t>
            </a:r>
          </a:p>
          <a:p>
            <a:pPr lvl="0"/>
            <a:r>
              <a:rPr lang="en-US" b="1" dirty="0"/>
              <a:t>Frontend:</a:t>
            </a:r>
            <a:r>
              <a:rPr lang="en-US" dirty="0"/>
              <a:t> React.js and Vite for a responsive web interface. </a:t>
            </a:r>
          </a:p>
          <a:p>
            <a:pPr lvl="0"/>
            <a:r>
              <a:rPr lang="en-US" b="1" dirty="0"/>
              <a:t>Backend:</a:t>
            </a:r>
            <a:r>
              <a:rPr lang="en-US" dirty="0"/>
              <a:t> Node.js and Express.js for API development. </a:t>
            </a:r>
          </a:p>
          <a:p>
            <a:pPr lvl="0"/>
            <a:r>
              <a:rPr lang="en-US" b="1" dirty="0"/>
              <a:t>Database:</a:t>
            </a:r>
            <a:r>
              <a:rPr lang="en-US" dirty="0"/>
              <a:t> Firebase Authentication and Cloud </a:t>
            </a:r>
            <a:r>
              <a:rPr lang="en-US" dirty="0" err="1"/>
              <a:t>Firestore</a:t>
            </a:r>
            <a:r>
              <a:rPr lang="en-US" dirty="0"/>
              <a:t>. </a:t>
            </a:r>
          </a:p>
          <a:p>
            <a:pPr lvl="0"/>
            <a:r>
              <a:rPr lang="en-US" b="1" dirty="0"/>
              <a:t>AI Integration:</a:t>
            </a:r>
            <a:r>
              <a:rPr lang="en-US" dirty="0"/>
              <a:t> Atlas AI using the Gemini API for travel assistance. </a:t>
            </a:r>
          </a:p>
          <a:p>
            <a:pPr lvl="0"/>
            <a:r>
              <a:rPr lang="en-US" b="1" dirty="0"/>
              <a:t>Features:</a:t>
            </a:r>
            <a:r>
              <a:rPr lang="en-US" dirty="0"/>
              <a:t> Search, itinerary, hotels, weather, maps, flights, and personalized recommendations. </a:t>
            </a:r>
          </a:p>
          <a:p>
            <a:pPr lvl="0"/>
            <a:r>
              <a:rPr lang="en-US" b="1" dirty="0"/>
              <a:t>Architecture:</a:t>
            </a:r>
            <a:r>
              <a:rPr lang="en-US" dirty="0"/>
              <a:t> Modular, scalable, and responsive design.</a:t>
            </a:r>
          </a:p>
          <a:p>
            <a:pPr lvl="0"/>
            <a:r>
              <a:rPr lang="en-US" b="1" dirty="0"/>
              <a:t>Dynamic Routing</a:t>
            </a:r>
            <a:r>
              <a:rPr lang="en-US" dirty="0"/>
              <a:t>: Destination pages generated dynamically.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887700"/>
      </p:ext>
    </p:extLst>
  </p:cSld>
  <p:clrMapOvr>
    <a:masterClrMapping/>
  </p:clrMapOvr>
  <p:transition spd="slow">
    <p:blinds dir="vert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531" y="136525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005" y="846436"/>
            <a:ext cx="11539329" cy="4058194"/>
          </a:xfrm>
        </p:spPr>
        <p:txBody>
          <a:bodyPr/>
          <a:lstStyle/>
          <a:p>
            <a:pPr lvl="0"/>
            <a:r>
              <a:rPr lang="en-US" dirty="0"/>
              <a:t>Develop an AI-powered smart travel planning application. </a:t>
            </a:r>
          </a:p>
          <a:p>
            <a:pPr lvl="0"/>
            <a:r>
              <a:rPr lang="en-US" dirty="0"/>
              <a:t>Provide personalized travel recommendations using Atlas AI. </a:t>
            </a:r>
          </a:p>
          <a:p>
            <a:pPr lvl="0"/>
            <a:r>
              <a:rPr lang="en-US" dirty="0"/>
              <a:t>Integrate hotels, weather, maps, flights, and restaurants. </a:t>
            </a:r>
          </a:p>
          <a:p>
            <a:pPr lvl="0"/>
            <a:r>
              <a:rPr lang="en-US" dirty="0"/>
              <a:t>Enable secure user login with Firebase Authentication. </a:t>
            </a:r>
          </a:p>
          <a:p>
            <a:pPr lvl="0"/>
            <a:r>
              <a:rPr lang="en-US" dirty="0"/>
              <a:t>Create dynamic destination pages with intelligent search. </a:t>
            </a:r>
          </a:p>
          <a:p>
            <a:pPr lvl="0"/>
            <a:r>
              <a:rPr lang="en-US" dirty="0"/>
              <a:t>Design a responsive, user-friendly, and scalable platform. </a:t>
            </a:r>
          </a:p>
          <a:p>
            <a:pPr lvl="0"/>
            <a:r>
              <a:rPr lang="en-US" dirty="0"/>
              <a:t>Enhance trip planning through AI-generated itineraries and packing guides.</a:t>
            </a:r>
          </a:p>
          <a:p>
            <a:pPr lvl="0"/>
            <a:r>
              <a:rPr lang="en-US" dirty="0"/>
              <a:t>Improve travel decision-making through real-time information.</a:t>
            </a:r>
          </a:p>
          <a:p>
            <a:pPr lvl="0"/>
            <a:r>
              <a:rPr lang="en-US" dirty="0"/>
              <a:t>Reduce manual trip planning with intelligent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32951823"/>
      </p:ext>
    </p:extLst>
  </p:cSld>
  <p:clrMapOvr>
    <a:masterClrMapping/>
  </p:clrMapOvr>
  <p:transition spd="slow">
    <p:blinds dir="vert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CDDCD-B05B-11FD-2D99-C6F43FC7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3A9F8-4812-D43B-998C-B8157AC3F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043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F1CA2-B7AA-95A8-1D6B-09EC02234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64" y="1186180"/>
            <a:ext cx="10714383" cy="4058194"/>
          </a:xfrm>
        </p:spPr>
        <p:txBody>
          <a:bodyPr/>
          <a:lstStyle/>
          <a:p>
            <a:pPr lvl="0"/>
            <a:r>
              <a:rPr lang="en-US" b="1" dirty="0"/>
              <a:t>Requirement Analysis:</a:t>
            </a:r>
            <a:r>
              <a:rPr lang="en-US" dirty="0"/>
              <a:t> Identified project goals and user requirements. </a:t>
            </a:r>
          </a:p>
          <a:p>
            <a:pPr lvl="0"/>
            <a:r>
              <a:rPr lang="en-US" b="1" dirty="0"/>
              <a:t>Project Planning:</a:t>
            </a:r>
            <a:r>
              <a:rPr lang="en-US" dirty="0"/>
              <a:t> Planned the workflow and system architecture. </a:t>
            </a:r>
          </a:p>
          <a:p>
            <a:pPr lvl="0"/>
            <a:r>
              <a:rPr lang="en-US" b="1" dirty="0"/>
              <a:t>Technology Selection:</a:t>
            </a:r>
            <a:r>
              <a:rPr lang="en-US" dirty="0"/>
              <a:t> Chose React, Node.js, Express.js, and Firebase. </a:t>
            </a:r>
          </a:p>
          <a:p>
            <a:pPr lvl="0"/>
            <a:r>
              <a:rPr lang="en-US" b="1" dirty="0"/>
              <a:t>UI/UX Design:</a:t>
            </a:r>
            <a:r>
              <a:rPr lang="en-US" dirty="0"/>
              <a:t> Created responsive layouts and page designs. </a:t>
            </a:r>
          </a:p>
          <a:p>
            <a:pPr lvl="0"/>
            <a:r>
              <a:rPr lang="en-US" b="1" dirty="0"/>
              <a:t>Database Design:</a:t>
            </a:r>
            <a:r>
              <a:rPr lang="en-US" dirty="0"/>
              <a:t> Structured user and destination data. </a:t>
            </a:r>
          </a:p>
          <a:p>
            <a:pPr lvl="0"/>
            <a:r>
              <a:rPr lang="en-US" b="1" dirty="0"/>
              <a:t>Resource Preparation:</a:t>
            </a:r>
            <a:r>
              <a:rPr lang="en-US" dirty="0"/>
              <a:t> Organized images and travel content. </a:t>
            </a:r>
          </a:p>
          <a:p>
            <a:pPr lvl="0"/>
            <a:r>
              <a:rPr lang="en-US" b="1" dirty="0"/>
              <a:t>Architecture:</a:t>
            </a:r>
            <a:r>
              <a:rPr lang="en-US" dirty="0"/>
              <a:t> Followed a modular and scalable design. </a:t>
            </a:r>
          </a:p>
          <a:p>
            <a:pPr lvl="0"/>
            <a:r>
              <a:rPr lang="en-US" b="1" dirty="0"/>
              <a:t>Feature Planning:</a:t>
            </a:r>
            <a:r>
              <a:rPr lang="en-US" dirty="0"/>
              <a:t> Defined core modules and functionalities.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547EE-D9C8-8B1A-9671-638FABBD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3038722"/>
      </p:ext>
    </p:extLst>
  </p:cSld>
  <p:clrMapOvr>
    <a:masterClrMapping/>
  </p:clrMapOvr>
  <p:transition spd="slow">
    <p:blinds dir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7409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391" y="1154550"/>
            <a:ext cx="10515600" cy="4058194"/>
          </a:xfrm>
        </p:spPr>
        <p:txBody>
          <a:bodyPr/>
          <a:lstStyle/>
          <a:p>
            <a:pPr lvl="0"/>
            <a:r>
              <a:rPr lang="en-US" b="1" dirty="0"/>
              <a:t>Frontend Development:</a:t>
            </a:r>
            <a:r>
              <a:rPr lang="en-US" dirty="0"/>
              <a:t> Built responsive pages using React and Vite. </a:t>
            </a:r>
          </a:p>
          <a:p>
            <a:pPr lvl="0"/>
            <a:r>
              <a:rPr lang="en-US" b="1" dirty="0"/>
              <a:t>Backend Development:</a:t>
            </a:r>
            <a:r>
              <a:rPr lang="en-US" dirty="0"/>
              <a:t> Developed REST APIs with Express.js. </a:t>
            </a:r>
          </a:p>
          <a:p>
            <a:pPr lvl="0"/>
            <a:r>
              <a:rPr lang="en-US" b="1" dirty="0"/>
              <a:t>Authentication:</a:t>
            </a:r>
            <a:r>
              <a:rPr lang="en-US" dirty="0"/>
              <a:t> Integrated Firebase Google Sign-In. </a:t>
            </a:r>
          </a:p>
          <a:p>
            <a:pPr lvl="0"/>
            <a:r>
              <a:rPr lang="en-US" b="1" dirty="0"/>
              <a:t>Database:</a:t>
            </a:r>
            <a:r>
              <a:rPr lang="en-US" dirty="0"/>
              <a:t> Stored user data using Cloud </a:t>
            </a:r>
            <a:r>
              <a:rPr lang="en-US" dirty="0" err="1"/>
              <a:t>Firestore</a:t>
            </a:r>
            <a:r>
              <a:rPr lang="en-US" dirty="0"/>
              <a:t>. </a:t>
            </a:r>
          </a:p>
          <a:p>
            <a:pPr lvl="0"/>
            <a:r>
              <a:rPr lang="en-US" b="1" dirty="0"/>
              <a:t>AI Integration:</a:t>
            </a:r>
            <a:r>
              <a:rPr lang="en-US" dirty="0"/>
              <a:t> Connected Atlas AI with the Gemini API. </a:t>
            </a:r>
          </a:p>
          <a:p>
            <a:pPr lvl="0"/>
            <a:r>
              <a:rPr lang="en-US" b="1" dirty="0"/>
              <a:t>API Integration:</a:t>
            </a:r>
            <a:r>
              <a:rPr lang="en-US" dirty="0"/>
              <a:t> Added weather, maps, hotels, and flights. </a:t>
            </a:r>
          </a:p>
          <a:p>
            <a:pPr lvl="0"/>
            <a:r>
              <a:rPr lang="en-US" b="1" dirty="0"/>
              <a:t>Search System:</a:t>
            </a:r>
            <a:r>
              <a:rPr lang="en-US" dirty="0"/>
              <a:t> Implemented dynamic destination search. </a:t>
            </a:r>
          </a:p>
          <a:p>
            <a:pPr lvl="0"/>
            <a:r>
              <a:rPr lang="en-US" b="1" dirty="0"/>
              <a:t>Personalization:</a:t>
            </a:r>
            <a:r>
              <a:rPr lang="en-US" dirty="0"/>
              <a:t> Developed recommendations and itinerary features.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958729"/>
      </p:ext>
    </p:extLst>
  </p:cSld>
  <p:clrMapOvr>
    <a:masterClrMapping/>
  </p:clrMapOvr>
  <p:transition spd="slow">
    <p:blinds dir="vert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BD1-AA0A-F8AF-D0C0-6428CD21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2BB6A-3C9B-E0F2-FFC1-E821AAFB7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287" y="217852"/>
            <a:ext cx="10515600" cy="819241"/>
          </a:xfrm>
        </p:spPr>
        <p:txBody>
          <a:bodyPr/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 Used / Course Description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ABEC7-E037-9C0B-5073-3E527E98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104" y="1166301"/>
            <a:ext cx="10919791" cy="4058194"/>
          </a:xfrm>
        </p:spPr>
        <p:txBody>
          <a:bodyPr/>
          <a:lstStyle/>
          <a:p>
            <a:pPr lvl="0"/>
            <a:r>
              <a:rPr lang="en-US" b="1" dirty="0"/>
              <a:t>Functional Testing:</a:t>
            </a:r>
            <a:r>
              <a:rPr lang="en-US" dirty="0"/>
              <a:t> Verified all application features. </a:t>
            </a:r>
          </a:p>
          <a:p>
            <a:pPr lvl="0"/>
            <a:r>
              <a:rPr lang="en-US" b="1" dirty="0"/>
              <a:t>Debugging:</a:t>
            </a:r>
            <a:r>
              <a:rPr lang="en-US" dirty="0"/>
              <a:t> Fixed issues during development. </a:t>
            </a:r>
          </a:p>
          <a:p>
            <a:pPr lvl="0"/>
            <a:r>
              <a:rPr lang="en-US" b="1" dirty="0"/>
              <a:t>Performance:</a:t>
            </a:r>
            <a:r>
              <a:rPr lang="en-US" dirty="0"/>
              <a:t> Optimized application speed and responsiveness. </a:t>
            </a:r>
          </a:p>
          <a:p>
            <a:pPr lvl="0"/>
            <a:r>
              <a:rPr lang="en-US" b="1" dirty="0"/>
              <a:t>Error Handling:</a:t>
            </a:r>
            <a:r>
              <a:rPr lang="en-US" dirty="0"/>
              <a:t> Added fallback mechanisms for APIs. </a:t>
            </a:r>
          </a:p>
          <a:p>
            <a:pPr lvl="0"/>
            <a:r>
              <a:rPr lang="en-US" b="1" dirty="0"/>
              <a:t>Responsive Design:</a:t>
            </a:r>
            <a:r>
              <a:rPr lang="en-US" dirty="0"/>
              <a:t> Tested across multiple devices. </a:t>
            </a:r>
          </a:p>
          <a:p>
            <a:pPr lvl="0"/>
            <a:r>
              <a:rPr lang="en-US" b="1" dirty="0"/>
              <a:t>Code Optimization:</a:t>
            </a:r>
            <a:r>
              <a:rPr lang="en-US" dirty="0"/>
              <a:t> Improved reusability and maintainability. </a:t>
            </a:r>
          </a:p>
          <a:p>
            <a:pPr lvl="0"/>
            <a:r>
              <a:rPr lang="en-US" b="1" dirty="0"/>
              <a:t>Documentation:</a:t>
            </a:r>
            <a:r>
              <a:rPr lang="en-US" dirty="0"/>
              <a:t> Prepared the report and presentation. </a:t>
            </a:r>
          </a:p>
          <a:p>
            <a:pPr lvl="0"/>
            <a:r>
              <a:rPr lang="en-US" b="1" dirty="0"/>
              <a:t>Final Validation:</a:t>
            </a:r>
            <a:r>
              <a:rPr lang="en-US" dirty="0"/>
              <a:t> Reviewed the complete application before submission.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DBA64-5FF7-5EAA-4C6B-FA819C000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93289811"/>
      </p:ext>
    </p:extLst>
  </p:cSld>
  <p:clrMapOvr>
    <a:masterClrMapping/>
  </p:clrMapOvr>
  <p:transition spd="slow">
    <p:blinds dir="vert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(Optional)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038" y="1253331"/>
            <a:ext cx="10515600" cy="4351338"/>
          </a:xfrm>
        </p:spPr>
        <p:txBody>
          <a:bodyPr/>
          <a:lstStyle/>
          <a:p>
            <a:pPr lvl="0"/>
            <a:r>
              <a:rPr lang="en-US" b="1" dirty="0"/>
              <a:t>Project Completion:</a:t>
            </a:r>
            <a:r>
              <a:rPr lang="en-US" dirty="0"/>
              <a:t> Successfully developed the Travio web application. </a:t>
            </a:r>
          </a:p>
          <a:p>
            <a:pPr lvl="0"/>
            <a:r>
              <a:rPr lang="en-US" b="1" dirty="0"/>
              <a:t>AI Features:</a:t>
            </a:r>
            <a:r>
              <a:rPr lang="en-US" dirty="0"/>
              <a:t> Integrated Atlas AI for travel assistance. </a:t>
            </a:r>
          </a:p>
          <a:p>
            <a:pPr lvl="0"/>
            <a:r>
              <a:rPr lang="en-US" b="1" dirty="0"/>
              <a:t>Travel Services:</a:t>
            </a:r>
            <a:r>
              <a:rPr lang="en-US" dirty="0"/>
              <a:t> Added hotels, weather, maps, and flights. </a:t>
            </a:r>
          </a:p>
          <a:p>
            <a:pPr lvl="0"/>
            <a:r>
              <a:rPr lang="en-US" b="1" dirty="0"/>
              <a:t>Authentication:</a:t>
            </a:r>
            <a:r>
              <a:rPr lang="en-US" dirty="0"/>
              <a:t> Implemented secure Firebase login. </a:t>
            </a:r>
          </a:p>
          <a:p>
            <a:pPr lvl="0"/>
            <a:r>
              <a:rPr lang="en-US" b="1" dirty="0"/>
              <a:t>Dynamic System:</a:t>
            </a:r>
            <a:r>
              <a:rPr lang="en-US" dirty="0"/>
              <a:t> Enabled search and destination management. </a:t>
            </a:r>
          </a:p>
          <a:p>
            <a:pPr lvl="0"/>
            <a:r>
              <a:rPr lang="en-US" b="1" dirty="0"/>
              <a:t>Performance:</a:t>
            </a:r>
            <a:r>
              <a:rPr lang="en-US" dirty="0"/>
              <a:t> Achieved smooth and responsive navigation. </a:t>
            </a:r>
          </a:p>
          <a:p>
            <a:pPr lvl="0"/>
            <a:r>
              <a:rPr lang="en-US" b="1" dirty="0"/>
              <a:t>User Experience:</a:t>
            </a:r>
            <a:r>
              <a:rPr lang="en-US" dirty="0"/>
              <a:t> Delivered a modern and interactive interface.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75810"/>
      </p:ext>
    </p:extLst>
  </p:cSld>
  <p:clrMapOvr>
    <a:masterClrMapping/>
  </p:clrMapOvr>
  <p:transition spd="slow">
    <p:blinds dir="vert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146" y="216038"/>
            <a:ext cx="10515600" cy="596311"/>
          </a:xfrm>
        </p:spPr>
        <p:txBody>
          <a:bodyPr/>
          <a:lstStyle/>
          <a:p>
            <a:r>
              <a:rPr lang="en-US" sz="3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700" y="1060827"/>
            <a:ext cx="12027300" cy="4351338"/>
          </a:xfrm>
        </p:spPr>
        <p:txBody>
          <a:bodyPr/>
          <a:lstStyle/>
          <a:p>
            <a:pPr lvl="0"/>
            <a:r>
              <a:rPr lang="en-US" dirty="0"/>
              <a:t>Developed an AI-powered smart travel planning application. </a:t>
            </a:r>
          </a:p>
          <a:p>
            <a:pPr lvl="0"/>
            <a:r>
              <a:rPr lang="en-US" dirty="0"/>
              <a:t>Integrated React, Node.js, Firebase, and Gemini AI. </a:t>
            </a:r>
          </a:p>
          <a:p>
            <a:pPr lvl="0"/>
            <a:r>
              <a:rPr lang="en-US" dirty="0"/>
              <a:t>Implemented dynamic search and personalized recommendations. </a:t>
            </a:r>
          </a:p>
          <a:p>
            <a:pPr lvl="0"/>
            <a:r>
              <a:rPr lang="en-US" dirty="0"/>
              <a:t>Combined travel services into a single platform. </a:t>
            </a:r>
          </a:p>
          <a:p>
            <a:pPr lvl="0"/>
            <a:r>
              <a:rPr lang="en-US" dirty="0"/>
              <a:t>Followed a modular and scalable architecture. </a:t>
            </a:r>
          </a:p>
          <a:p>
            <a:pPr lvl="0"/>
            <a:r>
              <a:rPr lang="en-US" dirty="0"/>
              <a:t>Gained practical experience in full-stack development and AI integration.</a:t>
            </a:r>
          </a:p>
          <a:p>
            <a:pPr lvl="0"/>
            <a:r>
              <a:rPr lang="en-US" dirty="0"/>
              <a:t>Improved problem-solving through debugging and continuous testing. </a:t>
            </a:r>
          </a:p>
          <a:p>
            <a:pPr lvl="0"/>
            <a:r>
              <a:rPr lang="en-US" dirty="0"/>
              <a:t>Designed a responsive interface for a consistent user experience across devices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392139"/>
      </p:ext>
    </p:extLst>
  </p:cSld>
  <p:clrMapOvr>
    <a:masterClrMapping/>
  </p:clrMapOvr>
  <p:transition spd="slow">
    <p:blinds dir="vert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6858000"/>
          </a:xfrm>
          <a:solidFill>
            <a:schemeClr val="accent1">
              <a:lumMod val="50000"/>
            </a:schemeClr>
          </a:solidFill>
        </p:spPr>
        <p:txBody>
          <a:bodyPr/>
          <a:lstStyle/>
          <a:p>
            <a:pPr marL="0" indent="0" algn="ctr">
              <a:buNone/>
            </a:pPr>
            <a:endParaRPr lang="en-US" sz="6600" dirty="0">
              <a:solidFill>
                <a:srgbClr val="FFFF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66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6600" dirty="0">
                <a:solidFill>
                  <a:schemeClr val="accent2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Q&amp;A</a:t>
            </a:r>
          </a:p>
          <a:p>
            <a:pPr marL="0" indent="0" algn="ctr">
              <a:buNone/>
            </a:pPr>
            <a:endParaRPr lang="en-US" sz="6600" dirty="0">
              <a:solidFill>
                <a:srgbClr val="A7118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12</a:t>
            </a:fld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7" descr="bd04924_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53" y="2150340"/>
            <a:ext cx="2841170" cy="3832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58975439"/>
      </p:ext>
    </p:extLst>
  </p:cSld>
  <p:clrMapOvr>
    <a:masterClrMapping/>
  </p:clrMapOvr>
  <p:transition spd="slow">
    <p:blinds dir="vert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47258"/>
            <a:ext cx="10515600" cy="1214846"/>
          </a:xfrm>
        </p:spPr>
        <p:txBody>
          <a:bodyPr/>
          <a:lstStyle/>
          <a:p>
            <a:pPr marL="0" indent="0" algn="ctr">
              <a:buNone/>
            </a:pPr>
            <a:r>
              <a:rPr lang="en-US" sz="6600" dirty="0">
                <a:solidFill>
                  <a:srgbClr val="A7118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 !!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5EC703-C051-410C-8BA1-62752E291E83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98440382"/>
      </p:ext>
    </p:extLst>
  </p:cSld>
  <p:clrMapOvr>
    <a:masterClrMapping/>
  </p:clrMapOvr>
  <p:transition spd="slow">
    <p:blinds dir="vert"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7884</TotalTime>
  <Words>861</Words>
  <Application>Microsoft Office PowerPoint</Application>
  <PresentationFormat>Widescreen</PresentationFormat>
  <Paragraphs>120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Cambria</vt:lpstr>
      <vt:lpstr>Times New Roman</vt:lpstr>
      <vt:lpstr>Verdana</vt:lpstr>
      <vt:lpstr>Wingdings</vt:lpstr>
      <vt:lpstr>Office Theme</vt:lpstr>
      <vt:lpstr>PowerPoint Presentation</vt:lpstr>
      <vt:lpstr>Content</vt:lpstr>
      <vt:lpstr>About Company or Organization</vt:lpstr>
      <vt:lpstr>About Company or Organization</vt:lpstr>
      <vt:lpstr>Working domain or the technology</vt:lpstr>
      <vt:lpstr>Objectives of the work</vt:lpstr>
      <vt:lpstr>Methodology Used / Course Description </vt:lpstr>
      <vt:lpstr>Methodology Used / Course Description </vt:lpstr>
      <vt:lpstr>Methodology Used / Course Description </vt:lpstr>
      <vt:lpstr>Results (Optional)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Preeteesh</dc:creator>
  <cp:lastModifiedBy>bhoomikarakesh4007@gmail.com</cp:lastModifiedBy>
  <cp:revision>944</cp:revision>
  <cp:lastPrinted>2018-07-24T06:37:20Z</cp:lastPrinted>
  <dcterms:created xsi:type="dcterms:W3CDTF">2018-06-07T04:06:17Z</dcterms:created>
  <dcterms:modified xsi:type="dcterms:W3CDTF">2026-08-07T17:06:59Z</dcterms:modified>
</cp:coreProperties>
</file>